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238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hoshkumar, Harini" userId="0c675c9b-64d5-4587-837d-bf1cae235d4d" providerId="ADAL" clId="{EC1AFF5E-7ABD-4AEA-9D46-790D323E7870}"/>
    <pc:docChg chg="undo custSel modSld">
      <pc:chgData name="Santhoshkumar, Harini" userId="0c675c9b-64d5-4587-837d-bf1cae235d4d" providerId="ADAL" clId="{EC1AFF5E-7ABD-4AEA-9D46-790D323E7870}" dt="2026-09-02T08:34:30.110" v="67" actId="20577"/>
      <pc:docMkLst>
        <pc:docMk/>
      </pc:docMkLst>
      <pc:sldChg chg="modSp mod">
        <pc:chgData name="Santhoshkumar, Harini" userId="0c675c9b-64d5-4587-837d-bf1cae235d4d" providerId="ADAL" clId="{EC1AFF5E-7ABD-4AEA-9D46-790D323E7870}" dt="2026-09-02T08:34:30.110" v="67" actId="20577"/>
        <pc:sldMkLst>
          <pc:docMk/>
          <pc:sldMk cId="2426020140" sldId="2147482382"/>
        </pc:sldMkLst>
        <pc:graphicFrameChg chg="mod modGraphic">
          <ac:chgData name="Santhoshkumar, Harini" userId="0c675c9b-64d5-4587-837d-bf1cae235d4d" providerId="ADAL" clId="{EC1AFF5E-7ABD-4AEA-9D46-790D323E7870}" dt="2026-09-02T08:34:30.110" v="67" actId="20577"/>
          <ac:graphicFrameMkLst>
            <pc:docMk/>
            <pc:sldMk cId="2426020140" sldId="2147482382"/>
            <ac:graphicFrameMk id="10" creationId="{5582EDE0-B319-1641-E5CD-B71DC97E8A5C}"/>
          </ac:graphicFrameMkLst>
        </pc:graphicFrameChg>
      </pc:sldChg>
    </pc:docChg>
  </pc:docChgLst>
  <pc:docChgLst>
    <pc:chgData name="Santhoshkumar, Harini" userId="S::harini.santhoshkumar@abbott.com::0c675c9b-64d5-4587-837d-bf1cae235d4d" providerId="AD" clId="Web-{00000000-0000-0000-0000-000000000000}"/>
    <pc:docChg chg="modSld">
      <pc:chgData name="Santhoshkumar, Harini" userId="S::harini.santhoshkumar@abbott.com::0c675c9b-64d5-4587-837d-bf1cae235d4d" providerId="AD" clId="Web-{00000000-0000-0000-0000-000000000000}" dt="2026-08-28T08:15:16.977" v="3" actId="14100"/>
      <pc:docMkLst>
        <pc:docMk/>
      </pc:docMkLst>
      <pc:sldChg chg="modSp">
        <pc:chgData name="Santhoshkumar, Harini" userId="S::harini.santhoshkumar@abbott.com::0c675c9b-64d5-4587-837d-bf1cae235d4d" providerId="AD" clId="Web-{00000000-0000-0000-0000-000000000000}" dt="2026-08-28T08:15:16.977" v="3" actId="14100"/>
        <pc:sldMkLst>
          <pc:docMk/>
          <pc:sldMk cId="2426020140" sldId="2147482382"/>
        </pc:sldMkLst>
        <pc:picChg chg="mod">
          <ac:chgData name="Santhoshkumar, Harini" userId="S::harini.santhoshkumar@abbott.com::0c675c9b-64d5-4587-837d-bf1cae235d4d" providerId="AD" clId="Web-{00000000-0000-0000-0000-000000000000}" dt="2026-08-28T08:15:16.977" v="3" actId="14100"/>
          <ac:picMkLst>
            <pc:docMk/>
            <pc:sldMk cId="2426020140" sldId="2147482382"/>
            <ac:picMk id="42" creationId="{68B22970-C3CE-4548-6F78-0E5F0E030F1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7419B-EFE1-4961-8126-F412FCAA53BB}" type="datetimeFigureOut"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E9A77F-F3EF-4C8D-B662-F75E973778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418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D9E7-1338-2EAB-4A60-D59A94E5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95428-1A01-4B06-D73D-9979E141D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0B672-D82B-121E-E3DA-7A6F58811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defTabSz="914400">
              <a:buFont typeface="Arial" panose="020B0604020202020204" pitchFamily="34" charset="0"/>
              <a:buChar char="•"/>
              <a:defRPr/>
            </a:pPr>
            <a:r>
              <a:rPr lang="en-GB" dirty="0"/>
              <a:t>48 times dryer CIP</a:t>
            </a:r>
          </a:p>
          <a:p>
            <a:pPr marL="171450" indent="-171450" defTabSz="914400">
              <a:buFont typeface="Arial" panose="020B0604020202020204" pitchFamily="34" charset="0"/>
              <a:buChar char="•"/>
              <a:defRPr/>
            </a:pPr>
            <a:r>
              <a:rPr lang="en-GB" dirty="0"/>
              <a:t>40 KL per CIP water saving</a:t>
            </a:r>
          </a:p>
          <a:p>
            <a:pPr marL="171450" indent="-171450" defTabSz="914400">
              <a:buFont typeface="Arial" panose="020B0604020202020204" pitchFamily="34" charset="0"/>
              <a:buChar char="•"/>
              <a:defRPr/>
            </a:pPr>
            <a:r>
              <a:rPr lang="en-GB" dirty="0"/>
              <a:t>Temperature increase in 10 </a:t>
            </a:r>
            <a:r>
              <a:rPr lang="en-GB" dirty="0" err="1"/>
              <a:t>deg</a:t>
            </a:r>
            <a:r>
              <a:rPr lang="en-GB" dirty="0"/>
              <a:t> C</a:t>
            </a:r>
          </a:p>
          <a:p>
            <a:pPr marL="171450" indent="-171450" defTabSz="914400">
              <a:buFont typeface="Arial" panose="020B0604020202020204" pitchFamily="34" charset="0"/>
              <a:buChar char="•"/>
              <a:defRPr/>
            </a:pPr>
            <a:r>
              <a:rPr lang="en-GB" dirty="0"/>
              <a:t>15 KW motor considered for circulation  pump.</a:t>
            </a:r>
          </a:p>
          <a:p>
            <a:pPr marL="171450" indent="-171450" defTabSz="914400">
              <a:buFont typeface="Arial" panose="020B0604020202020204" pitchFamily="34" charset="0"/>
              <a:buChar char="•"/>
              <a:defRPr/>
            </a:pPr>
            <a:endParaRPr lang="en-GB" dirty="0"/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Electricity Impact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Motor Rated Power – 15 kW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Motor Efficiency – 90%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Peak load per hour – 16.66 kW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endParaRPr lang="en-GB" dirty="0"/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Total Power per annum = 48 times dryer CIP x 3 days storage x 24 hours of operation x 16.66 kW = 57577 kWh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Optimized Operation = 48 times dryer CIP x 3 hours of operation before using the recovery water x 16.66 kW + 12 times Sanitization x 4 hours of operation before using the recovery water x 16.66 kW  = 3200 kWh</a:t>
            </a:r>
            <a:br>
              <a:rPr lang="en-GB" dirty="0"/>
            </a:br>
            <a:r>
              <a:rPr lang="en-GB" dirty="0"/>
              <a:t>tCO2e – 3200 X 0.0007224 = 2.31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Cost Impact – 3200 X 8.5 = 27200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Steam Impact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Water Volume – 40 m3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Delta T for Recovery Water Heating – 20 </a:t>
            </a:r>
            <a:r>
              <a:rPr lang="en-GB" dirty="0" err="1"/>
              <a:t>deg</a:t>
            </a:r>
            <a:r>
              <a:rPr lang="en-GB" dirty="0"/>
              <a:t>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PHE efficiency – 95%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Steam to fuel ratio - 13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PHE - 980 kW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Heat required per hour – 40000 X 4.186 X 20 = 3348800/0.95= 3535052 KJ/3600 = 979 kW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Steam, kg at 3 bara = 3535052/2164 = 1633 kg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Natural gas Nm3 = 1633/13 = 125 Nm3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dirty="0"/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Optimized Natural Gas Monthly = 4 times dryer CIP x 3 x 125 Nm3  = 1500 Nm3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Per Annum = 1500 X 12 = 18000 Nm3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tCO2e = 18000 X 0.00188 = 33.840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Total tCO2e impact = 33.840 + 2.31 = 36.15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Cost Impact = 18000/30 ( 1 MMBTU = 30Nm3) = 600 MMBTU X 2083.32 = 1249992 Rs</a:t>
            </a:r>
            <a:br>
              <a:rPr lang="en-GB" dirty="0"/>
            </a:br>
            <a:r>
              <a:rPr lang="en-GB" dirty="0"/>
              <a:t>Water Recovery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Water saved per CIP – 40 m3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Number of Dryer Cip – 48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Sanitizer step water consumption – 110 m3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Number of sanitization per year - 12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Water Saved = (40 X 48)-(110 X 12) = 600 m3 per annum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Cost Saving = 600 X (59(GIDC) + 20(treatment)) = 47400 Rs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Effluent Load Reduction = 600 m3 per annum</a:t>
            </a:r>
            <a:br>
              <a:rPr lang="en-GB" dirty="0"/>
            </a:br>
            <a:r>
              <a:rPr lang="en-GB" dirty="0"/>
              <a:t>Cost Saving = 600 x 35 = 21000 Rs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r>
              <a:rPr lang="en-GB" dirty="0"/>
              <a:t>Total Cost Impact = 27200+1249992-47400-21000=1208792/83 =$15 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AA7D9-AFDA-D0FE-F2B6-75A06B261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1EEE18-8F3D-4CB3-B090-6249C20A5AF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420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2773AC-CB5F-4692-8614-145FCB8122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0564" y="355602"/>
            <a:ext cx="6989233" cy="3488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60" b="0" cap="all" spc="177" baseline="0">
                <a:solidFill>
                  <a:schemeClr val="accent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Eyebrow identification, CALIBRI, 14PT REGULAR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95818-CAA3-49D4-822D-78FB55358F3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A8ECBE0-0F2C-47ED-8ABC-FCCB939B4586}" type="datetime1">
              <a:rPr lang="en-US" sz="1185" smtClean="0"/>
              <a:t>9/2/2026</a:t>
            </a:fld>
            <a:endParaRPr lang="en-IN" sz="1185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4A984-8C41-4A18-A4AB-486817760C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Charts &amp; Infographics  | 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13B2C-626A-4182-93CD-E777AFAD57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r>
              <a:rPr lang="en-IN"/>
              <a:t>|    </a:t>
            </a:r>
            <a:fld id="{7B2119CD-3B2D-4CEB-B404-D2E3F8CD6D69}" type="slidenum">
              <a:rPr lang="en-IN" smtClean="0"/>
              <a:pPr>
                <a:defRPr/>
              </a:pPr>
              <a:t>‹#›</a:t>
            </a:fld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2BE9E2-7A7D-4BED-96F2-45B5703A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69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6E423-61EF-1409-86F7-11E5260D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57D50D-710A-63B2-DCF5-565CCF853A49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517898" y="6043072"/>
            <a:ext cx="1050505" cy="325496"/>
          </a:xfrm>
        </p:spPr>
        <p:txBody>
          <a:bodyPr/>
          <a:lstStyle>
            <a:defPPr>
              <a:defRPr lang="zh-CN"/>
            </a:defPPr>
            <a:lvl1pPr marL="0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2212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4422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6634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8845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1055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3267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75479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57689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083734">
              <a:defRPr/>
            </a:pPr>
            <a:fld id="{8A8ECBE0-0F2C-47ED-8ABC-FCCB939B4586}" type="datetime1">
              <a:rPr lang="en-US" sz="1185">
                <a:solidFill>
                  <a:srgbClr val="000000"/>
                </a:solidFill>
                <a:latin typeface="Calibri"/>
              </a:rPr>
              <a:pPr algn="ctr" defTabSz="1083734">
                <a:defRPr/>
              </a:pPr>
              <a:t>9/2/2026</a:t>
            </a:fld>
            <a:endParaRPr lang="en-IN" sz="1185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02BB3-E6AB-12BB-E6D4-5472D2B869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65292" y="6043072"/>
            <a:ext cx="757469" cy="325496"/>
          </a:xfrm>
        </p:spPr>
        <p:txBody>
          <a:bodyPr/>
          <a:lstStyle>
            <a:defPPr>
              <a:defRPr lang="zh-CN"/>
            </a:defPPr>
            <a:lvl1pPr marL="0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2212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4422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6634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28845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1055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93267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75479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57689" algn="l" defTabSz="564422" rtl="0" eaLnBrk="1" latinLnBrk="0" hangingPunct="1">
              <a:defRPr sz="111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083734">
              <a:defRPr/>
            </a:pPr>
            <a:r>
              <a:rPr lang="en-IN" sz="1185">
                <a:solidFill>
                  <a:srgbClr val="000000"/>
                </a:solidFill>
                <a:latin typeface="Calibri"/>
              </a:rPr>
              <a:t>|    </a:t>
            </a:r>
            <a:fld id="{7B2119CD-3B2D-4CEB-B404-D2E3F8CD6D69}" type="slidenum">
              <a:rPr lang="en-IN" sz="1185">
                <a:solidFill>
                  <a:srgbClr val="000000"/>
                </a:solidFill>
                <a:latin typeface="Calibri"/>
              </a:rPr>
              <a:pPr algn="r" defTabSz="1083734">
                <a:defRPr/>
              </a:pPr>
              <a:t>1</a:t>
            </a:fld>
            <a:endParaRPr lang="en-IN" sz="1185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5582EDE0-B319-1641-E5CD-B71DC97E8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341417"/>
              </p:ext>
            </p:extLst>
          </p:nvPr>
        </p:nvGraphicFramePr>
        <p:xfrm>
          <a:off x="143565" y="651565"/>
          <a:ext cx="11848890" cy="2426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293">
                  <a:extLst>
                    <a:ext uri="{9D8B030D-6E8A-4147-A177-3AD203B41FA5}">
                      <a16:colId xmlns:a16="http://schemas.microsoft.com/office/drawing/2014/main" val="248013954"/>
                    </a:ext>
                  </a:extLst>
                </a:gridCol>
                <a:gridCol w="1169346">
                  <a:extLst>
                    <a:ext uri="{9D8B030D-6E8A-4147-A177-3AD203B41FA5}">
                      <a16:colId xmlns:a16="http://schemas.microsoft.com/office/drawing/2014/main" val="157686227"/>
                    </a:ext>
                  </a:extLst>
                </a:gridCol>
                <a:gridCol w="1334565">
                  <a:extLst>
                    <a:ext uri="{9D8B030D-6E8A-4147-A177-3AD203B41FA5}">
                      <a16:colId xmlns:a16="http://schemas.microsoft.com/office/drawing/2014/main" val="3054967668"/>
                    </a:ext>
                  </a:extLst>
                </a:gridCol>
                <a:gridCol w="1398116">
                  <a:extLst>
                    <a:ext uri="{9D8B030D-6E8A-4147-A177-3AD203B41FA5}">
                      <a16:colId xmlns:a16="http://schemas.microsoft.com/office/drawing/2014/main" val="3048972938"/>
                    </a:ext>
                  </a:extLst>
                </a:gridCol>
                <a:gridCol w="1001135">
                  <a:extLst>
                    <a:ext uri="{9D8B030D-6E8A-4147-A177-3AD203B41FA5}">
                      <a16:colId xmlns:a16="http://schemas.microsoft.com/office/drawing/2014/main" val="1222747969"/>
                    </a:ext>
                  </a:extLst>
                </a:gridCol>
                <a:gridCol w="3478148">
                  <a:extLst>
                    <a:ext uri="{9D8B030D-6E8A-4147-A177-3AD203B41FA5}">
                      <a16:colId xmlns:a16="http://schemas.microsoft.com/office/drawing/2014/main" val="3677483425"/>
                    </a:ext>
                  </a:extLst>
                </a:gridCol>
                <a:gridCol w="1240287">
                  <a:extLst>
                    <a:ext uri="{9D8B030D-6E8A-4147-A177-3AD203B41FA5}">
                      <a16:colId xmlns:a16="http://schemas.microsoft.com/office/drawing/2014/main" val="3444947488"/>
                    </a:ext>
                  </a:extLst>
                </a:gridCol>
              </a:tblGrid>
              <a:tr h="40268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Parameter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Site Baseline (Peak)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Projected (Site Baseline + Design)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Tariff Limit 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baseline="0" dirty="0">
                          <a:latin typeface="+mn-lt"/>
                          <a:cs typeface="Calibri"/>
                        </a:rPr>
                        <a:t>Impact</a:t>
                      </a:r>
                    </a:p>
                    <a:p>
                      <a:pPr algn="ctr"/>
                      <a:r>
                        <a:rPr lang="en-US" sz="1000" b="1" baseline="0" dirty="0">
                          <a:latin typeface="+mn-lt"/>
                          <a:cs typeface="Calibri"/>
                        </a:rPr>
                        <a:t>( + / - / = / NA)</a:t>
                      </a:r>
                      <a:endParaRPr lang="en-US" sz="1000" b="1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Mitigation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New Impact</a:t>
                      </a:r>
                      <a:endParaRPr lang="en-US" sz="1000" b="1" baseline="0" dirty="0">
                        <a:latin typeface="+mn-lt"/>
                        <a:cs typeface="Calibri"/>
                      </a:endParaRPr>
                    </a:p>
                    <a:p>
                      <a:pPr algn="ctr"/>
                      <a:r>
                        <a:rPr lang="en-US" sz="1000" b="1" baseline="0" dirty="0">
                          <a:latin typeface="+mn-lt"/>
                          <a:cs typeface="Calibri"/>
                        </a:rPr>
                        <a:t> ( + / - / = / NA)</a:t>
                      </a:r>
                      <a:endParaRPr lang="en-US" sz="1000" b="1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361178086"/>
                  </a:ext>
                </a:extLst>
              </a:tr>
              <a:tr h="3375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Electricity (kW)</a:t>
                      </a:r>
                      <a:endParaRPr lang="en-US" sz="1000" dirty="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93946"/>
                  </a:ext>
                </a:extLst>
              </a:tr>
              <a:tr h="3351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Natural Gas (Nm3/month)</a:t>
                      </a:r>
                      <a:endParaRPr lang="en-US" sz="1000" dirty="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717591"/>
                  </a:ext>
                </a:extLst>
              </a:tr>
              <a:tr h="33515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Water (m3/day)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noProof="0">
                          <a:solidFill>
                            <a:schemeClr val="dk1"/>
                          </a:solidFill>
                          <a:latin typeface="Segoe UI"/>
                          <a:ea typeface="+mn-ea"/>
                          <a:cs typeface="Segoe UI"/>
                        </a:rPr>
                        <a:t>[blank]</a:t>
                      </a:r>
                      <a:endParaRPr 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baseline="0">
                          <a:latin typeface="+mn-lt"/>
                          <a:cs typeface="Calibri"/>
                        </a:rPr>
                        <a:t>NA</a:t>
                      </a:r>
                      <a:endParaRPr lang="en-US" sz="1000" b="0" baseline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988531"/>
                  </a:ext>
                </a:extLst>
              </a:tr>
              <a:tr h="3351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Waste Water (m3/day)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noProof="0">
                          <a:solidFill>
                            <a:schemeClr val="dk1"/>
                          </a:solidFill>
                          <a:latin typeface="Segoe UI"/>
                          <a:ea typeface="+mn-ea"/>
                          <a:cs typeface="Segoe UI"/>
                        </a:rPr>
                        <a:t>[blank]</a:t>
                      </a:r>
                      <a:endParaRPr 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0124"/>
                  </a:ext>
                </a:extLst>
              </a:tr>
              <a:tr h="33515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Carbon Footprint Scope 1 (tCO2e ) 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000" b="0" i="0" u="none" strike="noStrike" kern="1200" noProof="0" dirty="0">
                          <a:solidFill>
                            <a:schemeClr val="dk1"/>
                          </a:solidFill>
                          <a:latin typeface="Segoe UI"/>
                          <a:ea typeface="+mn-ea"/>
                          <a:cs typeface="Segoe UI"/>
                        </a:rPr>
                        <a:t>[blank]</a:t>
                      </a:r>
                      <a:endParaRPr lang="en-US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43899"/>
                  </a:ext>
                </a:extLst>
              </a:tr>
              <a:tr h="33515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Carbon </a:t>
                      </a:r>
                      <a:r>
                        <a:rPr lang="en-US" sz="1000">
                          <a:latin typeface="+mn-lt"/>
                        </a:rPr>
                        <a:t>Footprint Scope 2</a:t>
                      </a:r>
                      <a:r>
                        <a:rPr lang="en-US" sz="1000" dirty="0">
                          <a:latin typeface="+mn-lt"/>
                        </a:rPr>
                        <a:t>(tCO2e)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marL="0" lvl="0" algn="ctr" defTabSz="1625519" rtl="0" eaLnBrk="1" latinLnBrk="0" hangingPunct="1"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latin typeface="Calibri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en-US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Calibri"/>
                        </a:rPr>
                        <a:t>[blank]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00123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8F5A096-5DCC-4804-FED8-B62FB02758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635809"/>
              </p:ext>
            </p:extLst>
          </p:nvPr>
        </p:nvGraphicFramePr>
        <p:xfrm>
          <a:off x="151920" y="5757847"/>
          <a:ext cx="4884126" cy="298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4105">
                  <a:extLst>
                    <a:ext uri="{9D8B030D-6E8A-4147-A177-3AD203B41FA5}">
                      <a16:colId xmlns:a16="http://schemas.microsoft.com/office/drawing/2014/main" val="3395277337"/>
                    </a:ext>
                  </a:extLst>
                </a:gridCol>
                <a:gridCol w="1190021">
                  <a:extLst>
                    <a:ext uri="{9D8B030D-6E8A-4147-A177-3AD203B41FA5}">
                      <a16:colId xmlns:a16="http://schemas.microsoft.com/office/drawing/2014/main" val="3891116301"/>
                    </a:ext>
                  </a:extLst>
                </a:gridCol>
              </a:tblGrid>
              <a:tr h="298027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Calibri"/>
                        </a:rPr>
                        <a:t>Energy Assessment Tool completed?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373" marR="108373" marT="54187" marB="5418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NA</a:t>
                      </a:r>
                    </a:p>
                  </a:txBody>
                  <a:tcPr marL="108373" marR="108373" marT="54187" marB="54187"/>
                </a:tc>
                <a:extLst>
                  <a:ext uri="{0D108BD9-81ED-4DB2-BD59-A6C34878D82A}">
                    <a16:rowId xmlns:a16="http://schemas.microsoft.com/office/drawing/2014/main" val="2465979341"/>
                  </a:ext>
                </a:extLst>
              </a:tr>
            </a:tbl>
          </a:graphicData>
        </a:graphic>
      </p:graphicFrame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A9197A-2F4A-FCF9-20AF-9DF208B0772E}"/>
              </a:ext>
            </a:extLst>
          </p:cNvPr>
          <p:cNvSpPr/>
          <p:nvPr/>
        </p:nvSpPr>
        <p:spPr>
          <a:xfrm>
            <a:off x="105985" y="6087242"/>
            <a:ext cx="11933975" cy="73857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rtlCol="0" anchor="ctr"/>
          <a:lstStyle>
            <a:defPPr>
              <a:defRPr lang="zh-CN"/>
            </a:defPPr>
            <a:lvl1pPr marL="0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17480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4959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2439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69919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7398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4878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22358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9837" algn="l" defTabSz="634959" rtl="0" eaLnBrk="1" latinLnBrk="0" hangingPunct="1">
              <a:defRPr sz="12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2820">
              <a:defRPr/>
            </a:pPr>
            <a:r>
              <a:rPr lang="en-US" sz="1133" b="1" dirty="0">
                <a:solidFill>
                  <a:srgbClr val="000000"/>
                </a:solidFill>
                <a:latin typeface="Calibri"/>
              </a:rPr>
              <a:t>Key Takeaway</a:t>
            </a:r>
            <a:r>
              <a:rPr lang="en-US" sz="1133" dirty="0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graphicFrame>
        <p:nvGraphicFramePr>
          <p:cNvPr id="25" name="Table 6">
            <a:extLst>
              <a:ext uri="{FF2B5EF4-FFF2-40B4-BE49-F238E27FC236}">
                <a16:creationId xmlns:a16="http://schemas.microsoft.com/office/drawing/2014/main" id="{FD9C26DF-6581-ECC2-E66A-AC717CDF5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2490379"/>
              </p:ext>
            </p:extLst>
          </p:nvPr>
        </p:nvGraphicFramePr>
        <p:xfrm>
          <a:off x="146538" y="3067538"/>
          <a:ext cx="11840874" cy="2603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54">
                  <a:extLst>
                    <a:ext uri="{9D8B030D-6E8A-4147-A177-3AD203B41FA5}">
                      <a16:colId xmlns:a16="http://schemas.microsoft.com/office/drawing/2014/main" val="248013954"/>
                    </a:ext>
                  </a:extLst>
                </a:gridCol>
                <a:gridCol w="1166859">
                  <a:extLst>
                    <a:ext uri="{9D8B030D-6E8A-4147-A177-3AD203B41FA5}">
                      <a16:colId xmlns:a16="http://schemas.microsoft.com/office/drawing/2014/main" val="157686227"/>
                    </a:ext>
                  </a:extLst>
                </a:gridCol>
                <a:gridCol w="1331724">
                  <a:extLst>
                    <a:ext uri="{9D8B030D-6E8A-4147-A177-3AD203B41FA5}">
                      <a16:colId xmlns:a16="http://schemas.microsoft.com/office/drawing/2014/main" val="3054967668"/>
                    </a:ext>
                  </a:extLst>
                </a:gridCol>
                <a:gridCol w="1395143">
                  <a:extLst>
                    <a:ext uri="{9D8B030D-6E8A-4147-A177-3AD203B41FA5}">
                      <a16:colId xmlns:a16="http://schemas.microsoft.com/office/drawing/2014/main" val="304897293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22747969"/>
                    </a:ext>
                  </a:extLst>
                </a:gridCol>
                <a:gridCol w="3489739">
                  <a:extLst>
                    <a:ext uri="{9D8B030D-6E8A-4147-A177-3AD203B41FA5}">
                      <a16:colId xmlns:a16="http://schemas.microsoft.com/office/drawing/2014/main" val="3677483425"/>
                    </a:ext>
                  </a:extLst>
                </a:gridCol>
                <a:gridCol w="1218855">
                  <a:extLst>
                    <a:ext uri="{9D8B030D-6E8A-4147-A177-3AD203B41FA5}">
                      <a16:colId xmlns:a16="http://schemas.microsoft.com/office/drawing/2014/main" val="3444947488"/>
                    </a:ext>
                  </a:extLst>
                </a:gridCol>
              </a:tblGrid>
              <a:tr h="64052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System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Site Baseline (Peak)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+mn-lt"/>
                          <a:cs typeface="Calibri"/>
                        </a:rPr>
                        <a:t>Projected (Site Baseline + Design)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 dirty="0">
                          <a:latin typeface="+mn-lt"/>
                          <a:cs typeface="Calibri"/>
                        </a:rPr>
                        <a:t>Redundancy Limit </a:t>
                      </a:r>
                      <a:endParaRPr lang="en-US" sz="100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baseline="0" dirty="0">
                          <a:latin typeface="+mn-lt"/>
                          <a:cs typeface="Calibri"/>
                        </a:rPr>
                        <a:t>Redundancy Impact</a:t>
                      </a:r>
                    </a:p>
                    <a:p>
                      <a:pPr algn="ctr"/>
                      <a:r>
                        <a:rPr lang="en-US" sz="900" b="1" baseline="0" dirty="0">
                          <a:latin typeface="+mn-lt"/>
                          <a:cs typeface="Calibri"/>
                        </a:rPr>
                        <a:t> ( + / - / - - / = / NA)</a:t>
                      </a:r>
                      <a:endParaRPr lang="en-US" sz="900" b="1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1">
                          <a:latin typeface="+mn-lt"/>
                          <a:cs typeface="Calibri"/>
                        </a:rPr>
                        <a:t>Mitigation</a:t>
                      </a:r>
                      <a:endParaRPr lang="en-US" sz="100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baseline="0" dirty="0">
                          <a:latin typeface="+mn-lt"/>
                          <a:cs typeface="Calibri"/>
                        </a:rPr>
                        <a:t>New</a:t>
                      </a:r>
                      <a:r>
                        <a:rPr lang="en-US" sz="900" b="1" baseline="0" dirty="0">
                          <a:latin typeface="+mn-lt"/>
                          <a:cs typeface="Calibri"/>
                        </a:rPr>
                        <a:t> </a:t>
                      </a:r>
                      <a:r>
                        <a:rPr lang="en-US" sz="1000" b="1" baseline="0" dirty="0">
                          <a:latin typeface="+mn-lt"/>
                          <a:cs typeface="Calibri"/>
                        </a:rPr>
                        <a:t>Impact</a:t>
                      </a:r>
                    </a:p>
                    <a:p>
                      <a:pPr algn="ctr"/>
                      <a:r>
                        <a:rPr lang="en-US" sz="900" b="1" baseline="0" dirty="0">
                          <a:latin typeface="+mn-lt"/>
                          <a:cs typeface="Calibri"/>
                        </a:rPr>
                        <a:t> ( + / - / - - / = / NA)</a:t>
                      </a:r>
                      <a:endParaRPr lang="en-US" sz="900" b="1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extLst>
                  <a:ext uri="{0D108BD9-81ED-4DB2-BD59-A6C34878D82A}">
                    <a16:rowId xmlns:a16="http://schemas.microsoft.com/office/drawing/2014/main" val="1361178086"/>
                  </a:ext>
                </a:extLst>
              </a:tr>
              <a:tr h="382228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Boiler, Kg/</a:t>
                      </a:r>
                      <a:r>
                        <a:rPr lang="en-US" sz="1000" dirty="0" err="1">
                          <a:latin typeface="+mn-lt"/>
                        </a:rPr>
                        <a:t>hr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5000000000000000000" pitchFamily="2" charset="2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293946"/>
                  </a:ext>
                </a:extLst>
              </a:tr>
              <a:tr h="24732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Air Compressor, Nm3/</a:t>
                      </a:r>
                      <a:r>
                        <a:rPr lang="en-US" sz="10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hr</a:t>
                      </a:r>
                      <a:r>
                        <a:rPr lang="en-US" sz="10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lang="en-US" sz="100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buFont typeface="Arial" panose="05000000000000000000" pitchFamily="2" charset="2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889723"/>
                  </a:ext>
                </a:extLst>
              </a:tr>
              <a:tr h="24732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Chiller, TR or kW/</a:t>
                      </a:r>
                      <a:r>
                        <a:rPr lang="en-US" sz="1000" dirty="0" err="1">
                          <a:latin typeface="+mn-lt"/>
                        </a:rPr>
                        <a:t>hr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/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5000000000000000000" pitchFamily="2" charset="2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10124"/>
                  </a:ext>
                </a:extLst>
              </a:tr>
              <a:tr h="2473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latin typeface="+mn-lt"/>
                        </a:rPr>
                        <a:t>Hot Water, m3/</a:t>
                      </a:r>
                      <a:r>
                        <a:rPr lang="en-US" sz="1000" dirty="0" err="1">
                          <a:latin typeface="+mn-lt"/>
                        </a:rPr>
                        <a:t>hr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5000000000000000000" pitchFamily="2" charset="2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243899"/>
                  </a:ext>
                </a:extLst>
              </a:tr>
              <a:tr h="24732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CIP Water, m3/</a:t>
                      </a:r>
                      <a:r>
                        <a:rPr lang="en-US" sz="1000" dirty="0" err="1">
                          <a:latin typeface="+mn-lt"/>
                        </a:rPr>
                        <a:t>hr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5000000000000000000" pitchFamily="2" charset="2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084808"/>
                  </a:ext>
                </a:extLst>
              </a:tr>
              <a:tr h="24732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Production Water, m3/</a:t>
                      </a:r>
                      <a:r>
                        <a:rPr lang="en-US" sz="1000" dirty="0" err="1">
                          <a:latin typeface="+mn-lt"/>
                        </a:rPr>
                        <a:t>hr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Calibri"/>
                        </a:rPr>
                        <a:t>0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5000000000000000000" pitchFamily="2" charset="2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  <a:endParaRPr lang="en-US" sz="1000" b="0" dirty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2528671"/>
                  </a:ext>
                </a:extLst>
              </a:tr>
              <a:tr h="24732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+mn-lt"/>
                        </a:rPr>
                        <a:t>Waste Water, m3/</a:t>
                      </a:r>
                      <a:r>
                        <a:rPr lang="en-US" sz="1000" dirty="0" err="1">
                          <a:latin typeface="+mn-lt"/>
                        </a:rPr>
                        <a:t>hr</a:t>
                      </a:r>
                      <a:endParaRPr lang="en-US" sz="1000" dirty="0">
                        <a:latin typeface="+mn-lt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 b="0">
                          <a:latin typeface="+mn-lt"/>
                          <a:cs typeface="Calibri"/>
                        </a:rPr>
                        <a:t>0</a:t>
                      </a: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5000000000000000000" pitchFamily="2" charset="2"/>
                        <a:buChar char="•"/>
                      </a:pPr>
                      <a:r>
                        <a:rPr lang="en-US" sz="1000" b="0" i="0" u="none" strike="noStrike" noProof="0">
                          <a:latin typeface="Segoe UI"/>
                          <a:cs typeface="Segoe UI"/>
                        </a:rPr>
                        <a:t>[blank]</a:t>
                      </a:r>
                      <a:endParaRPr lang="en-US" sz="1000" b="0">
                        <a:latin typeface="+mn-lt"/>
                        <a:cs typeface="Calibri"/>
                      </a:endParaRPr>
                    </a:p>
                  </a:txBody>
                  <a:tcPr marL="108373" marR="108373" marT="54187" marB="5418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+mn-lt"/>
                          <a:cs typeface="Calibri"/>
                        </a:rPr>
                        <a:t>NA</a:t>
                      </a:r>
                    </a:p>
                  </a:txBody>
                  <a:tcPr marL="108373" marR="108373" marT="54187" marB="54187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85913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2CFE5FA-DB30-B9F6-60CF-231585662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021687"/>
              </p:ext>
            </p:extLst>
          </p:nvPr>
        </p:nvGraphicFramePr>
        <p:xfrm>
          <a:off x="6750538" y="5754077"/>
          <a:ext cx="4924734" cy="298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54782">
                  <a:extLst>
                    <a:ext uri="{9D8B030D-6E8A-4147-A177-3AD203B41FA5}">
                      <a16:colId xmlns:a16="http://schemas.microsoft.com/office/drawing/2014/main" val="3395277337"/>
                    </a:ext>
                  </a:extLst>
                </a:gridCol>
                <a:gridCol w="1169952">
                  <a:extLst>
                    <a:ext uri="{9D8B030D-6E8A-4147-A177-3AD203B41FA5}">
                      <a16:colId xmlns:a16="http://schemas.microsoft.com/office/drawing/2014/main" val="3891116301"/>
                    </a:ext>
                  </a:extLst>
                </a:gridCol>
              </a:tblGrid>
              <a:tr h="298027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Calibri"/>
                        </a:rPr>
                        <a:t>Is Sustainable Design AES 00.005STD reviewed?</a:t>
                      </a:r>
                    </a:p>
                  </a:txBody>
                  <a:tcPr marL="108373" marR="108373" marT="54187" marB="54187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NA</a:t>
                      </a:r>
                    </a:p>
                  </a:txBody>
                  <a:tcPr marL="108373" marR="108373" marT="54187" marB="54187"/>
                </a:tc>
                <a:extLst>
                  <a:ext uri="{0D108BD9-81ED-4DB2-BD59-A6C34878D82A}">
                    <a16:rowId xmlns:a16="http://schemas.microsoft.com/office/drawing/2014/main" val="2465979341"/>
                  </a:ext>
                </a:extLst>
              </a:tr>
            </a:tbl>
          </a:graphicData>
        </a:graphic>
      </p:graphicFrame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16D813EE-084D-9038-2D15-B7055B6CCA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0880" y="39650"/>
            <a:ext cx="6989233" cy="348813"/>
          </a:xfrm>
        </p:spPr>
        <p:txBody>
          <a:bodyPr vert="horz" lIns="0" tIns="0" rIns="121920" bIns="60960" rtlCol="0" anchor="t">
            <a:noAutofit/>
          </a:bodyPr>
          <a:lstStyle/>
          <a:p>
            <a:r>
              <a:rPr lang="en-GB" sz="1600" dirty="0">
                <a:cs typeface="Calibri"/>
              </a:rPr>
              <a:t>GATE 3 Lite</a:t>
            </a:r>
            <a:endParaRPr lang="en-GB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D1B38CC5-8E28-B90A-358C-F4E033FF870C}"/>
              </a:ext>
            </a:extLst>
          </p:cNvPr>
          <p:cNvSpPr txBox="1">
            <a:spLocks/>
          </p:cNvSpPr>
          <p:nvPr/>
        </p:nvSpPr>
        <p:spPr>
          <a:xfrm>
            <a:off x="140877" y="241661"/>
            <a:ext cx="10850880" cy="520701"/>
          </a:xfrm>
          <a:prstGeom prst="rect">
            <a:avLst/>
          </a:prstGeom>
        </p:spPr>
        <p:txBody>
          <a:bodyPr vert="horz" lIns="0" tIns="0" rIns="121920" bIns="60960" rtlCol="0" anchor="t" anchorCtr="0"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67" b="0" kern="1200" cap="none" spc="0" baseline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625519"/>
            <a:r>
              <a:rPr lang="en-GB" dirty="0">
                <a:solidFill>
                  <a:srgbClr val="009CDE"/>
                </a:solidFill>
                <a:latin typeface="Georgia"/>
              </a:rPr>
              <a:t>Utilities and Sustainability Assessment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6DE830-1FC9-037B-A045-F1BD2715B69E}"/>
              </a:ext>
            </a:extLst>
          </p:cNvPr>
          <p:cNvSpPr/>
          <p:nvPr/>
        </p:nvSpPr>
        <p:spPr>
          <a:xfrm>
            <a:off x="12261960" y="2044355"/>
            <a:ext cx="4128441" cy="204548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121920" tIns="60960" rIns="121920" bIns="60960" rtlCol="0" anchor="ctr"/>
          <a:lstStyle/>
          <a:p>
            <a:pPr defTabSz="1219170">
              <a:defRPr/>
            </a:pPr>
            <a:endParaRPr lang="en-US" sz="1067" b="1" u="sng">
              <a:solidFill>
                <a:srgbClr val="000000"/>
              </a:solidFill>
              <a:latin typeface="Calibri"/>
              <a:cs typeface="Calibri"/>
            </a:endParaRPr>
          </a:p>
          <a:p>
            <a:pPr algn="ctr" defTabSz="1219170">
              <a:defRPr/>
            </a:pPr>
            <a:r>
              <a:rPr lang="en-GB" sz="1067" b="1" dirty="0">
                <a:solidFill>
                  <a:srgbClr val="FF0000"/>
                </a:solidFill>
                <a:latin typeface="Trebuchet MS"/>
              </a:rPr>
              <a:t>Delete this text box before FEP presentation</a:t>
            </a:r>
          </a:p>
          <a:p>
            <a:pPr algn="ctr" defTabSz="1219170">
              <a:defRPr/>
            </a:pPr>
            <a:endParaRPr lang="en-GB" sz="1067" b="1" dirty="0">
              <a:solidFill>
                <a:srgbClr val="FF0000"/>
              </a:solidFill>
              <a:latin typeface="Trebuchet MS"/>
              <a:ea typeface="Calibri"/>
              <a:cs typeface="Calibri"/>
            </a:endParaRPr>
          </a:p>
          <a:p>
            <a:pPr defTabSz="1219170">
              <a:defRPr/>
            </a:pPr>
            <a:endParaRPr lang="en-US" sz="1067" b="1" u="sng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defTabSz="1219170">
              <a:defRPr/>
            </a:pPr>
            <a:r>
              <a:rPr lang="en-US" sz="1067" b="1" u="sng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Utilities and Sustainability Assessment</a:t>
            </a:r>
            <a:endParaRPr lang="en-US" sz="1067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defTabSz="1219170">
              <a:defRPr/>
            </a:pPr>
            <a:endParaRPr lang="en-US" sz="1067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defTabSz="1219170">
              <a:defRPr/>
            </a:pPr>
            <a:r>
              <a:rPr lang="en-US" sz="1067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Site Baseline</a:t>
            </a:r>
            <a:r>
              <a:rPr lang="en-US" sz="1067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– The entire site peak load inputs from site utilities team</a:t>
            </a:r>
            <a:endParaRPr lang="en-US" sz="1067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pPr defTabSz="1219170">
              <a:defRPr/>
            </a:pPr>
            <a:r>
              <a:rPr lang="en-US" sz="1067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Projected</a:t>
            </a:r>
            <a:r>
              <a:rPr lang="en-US" sz="1067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– Site baseline + design load from the project team</a:t>
            </a:r>
            <a:endParaRPr lang="en-US" sz="1067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1219170">
              <a:defRPr/>
            </a:pPr>
            <a:r>
              <a:rPr lang="en-US" sz="1067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Tariff Limit or Redundancy Limit </a:t>
            </a:r>
            <a:r>
              <a:rPr lang="en-US" sz="1067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– Inputs from site utilities team</a:t>
            </a:r>
            <a:endParaRPr lang="en-US" sz="1067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1219170">
              <a:defRPr/>
            </a:pPr>
            <a:r>
              <a:rPr lang="en-US" sz="1067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Impact</a:t>
            </a:r>
            <a:r>
              <a:rPr lang="en-US" sz="1067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– Review by site utilities manager </a:t>
            </a:r>
            <a:endParaRPr lang="en-US" sz="1067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1219170">
              <a:defRPr/>
            </a:pPr>
            <a:r>
              <a:rPr lang="en-US" sz="1067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Mitigation</a:t>
            </a:r>
            <a:r>
              <a:rPr lang="en-US" sz="1067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– Inputs from project team</a:t>
            </a:r>
            <a:endParaRPr lang="en-US" sz="1067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1219170">
              <a:defRPr/>
            </a:pPr>
            <a:r>
              <a:rPr lang="en-US" sz="1067" b="1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Impact</a:t>
            </a:r>
            <a:r>
              <a:rPr lang="en-US" sz="1067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– Review by site utilities manager</a:t>
            </a:r>
            <a:endParaRPr lang="en-US" sz="1067" dirty="0">
              <a:solidFill>
                <a:srgbClr val="000000"/>
              </a:solidFill>
              <a:latin typeface="Calibri"/>
              <a:cs typeface="Calibri"/>
            </a:endParaRPr>
          </a:p>
          <a:p>
            <a:pPr defTabSz="1219170">
              <a:defRPr/>
            </a:pPr>
            <a:endParaRPr lang="en-US" sz="1067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defTabSz="1219170">
              <a:defRPr/>
            </a:pPr>
            <a:endParaRPr lang="en-US" sz="1067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2" name="Picture 41" descr="A screen shot of a chart&#10;&#10;AI-generated content may be incorrect.">
            <a:extLst>
              <a:ext uri="{FF2B5EF4-FFF2-40B4-BE49-F238E27FC236}">
                <a16:creationId xmlns:a16="http://schemas.microsoft.com/office/drawing/2014/main" id="{68B22970-C3CE-4548-6F78-0E5F0E030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3558" y="-511"/>
            <a:ext cx="1794006" cy="65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020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b268d57-2a6f-4e04-b0de-6938583d5ebc}" enabled="0" method="" siteId="{5b268d57-2a6f-4e04-b0de-6938583d5e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709</Words>
  <Application>Microsoft Office PowerPoint</Application>
  <PresentationFormat>Widescreen</PresentationFormat>
  <Paragraphs>165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Georgia</vt:lpstr>
      <vt:lpstr>Segoe UI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Santhoshkumar, Harini</dc:creator>
  <cp:lastModifiedBy>Santhoshkumar, Harini</cp:lastModifiedBy>
  <cp:revision>127</cp:revision>
  <dcterms:created xsi:type="dcterms:W3CDTF">2026-08-26T07:25:51Z</dcterms:created>
  <dcterms:modified xsi:type="dcterms:W3CDTF">2026-09-02T08:34:30Z</dcterms:modified>
</cp:coreProperties>
</file>